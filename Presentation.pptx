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8" r:id="rId2"/>
    <p:sldId id="281" r:id="rId3"/>
    <p:sldId id="290" r:id="rId4"/>
    <p:sldId id="293" r:id="rId5"/>
    <p:sldId id="299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764" y="4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7/26/2026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9F277-D966-5891-8E8E-FE1852E6B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63166A99-EAE2-2E28-993F-D5871297B2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4ED88F3D-7791-59C8-716F-0AAD4C669A9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CC82298B-112C-33CB-5F98-D6F1C4A4C6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30513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7/26/2026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7/26/2026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7/26/2026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energyplus.net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ashrae.org/" TargetMode="External"/><Relationship Id="rId5" Type="http://schemas.openxmlformats.org/officeDocument/2006/relationships/hyperlink" Target="https://ollama.com/" TargetMode="External"/><Relationship Id="rId4" Type="http://schemas.openxmlformats.org/officeDocument/2006/relationships/hyperlink" Target="https://energyplus.readthedocs.io/en/latest/api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99EC04-BCF1-5A69-7D5A-95D43C976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Subtitle 3">
            <a:extLst>
              <a:ext uri="{FF2B5EF4-FFF2-40B4-BE49-F238E27FC236}">
                <a16:creationId xmlns:a16="http://schemas.microsoft.com/office/drawing/2014/main" id="{E0A8E5C6-6BFC-01E5-DDF5-B6A7738A64F4}"/>
              </a:ext>
            </a:extLst>
          </p:cNvPr>
          <p:cNvSpPr txBox="1">
            <a:spLocks/>
          </p:cNvSpPr>
          <p:nvPr/>
        </p:nvSpPr>
        <p:spPr bwMode="auto">
          <a:xfrm>
            <a:off x="1415369" y="-365784"/>
            <a:ext cx="85344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marL="4572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2pPr>
            <a:lvl3pPr marL="9144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3pPr>
            <a:lvl4pPr marL="13716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4pPr>
            <a:lvl5pPr marL="18288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B1BDE7-2DA0-F526-CF6E-F50D43C2C5FE}"/>
              </a:ext>
            </a:extLst>
          </p:cNvPr>
          <p:cNvSpPr txBox="1"/>
          <p:nvPr/>
        </p:nvSpPr>
        <p:spPr>
          <a:xfrm>
            <a:off x="397274" y="1203454"/>
            <a:ext cx="11392204" cy="5425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1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- Eco-Loop Building Agents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 - Smart Automation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 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Student Name – Adithya Sankar Menon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Student ID – 23BRS1079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Candidate ID - 20509261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9884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609600" y="-1745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Proposed Solution: Eco-Loop - Autonomous Physical AI for Smart Buildings</a:t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349008" y="1350510"/>
            <a:ext cx="11614974" cy="51706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Detailed explanation of the proposed solution</a:t>
            </a:r>
          </a:p>
          <a:p>
            <a:r>
              <a:rPr lang="en-US" dirty="0"/>
              <a:t>Eco-Loop transforms static, rule-based Building Management Systems (BMS) into dynamic, self-correcting autonomous agents.</a:t>
            </a:r>
          </a:p>
          <a:p>
            <a:r>
              <a:rPr lang="en-US" dirty="0"/>
              <a:t>It integrates the </a:t>
            </a:r>
            <a:r>
              <a:rPr lang="en-US" dirty="0" err="1"/>
              <a:t>EnergyPlus</a:t>
            </a:r>
            <a:r>
              <a:rPr lang="en-US" dirty="0"/>
              <a:t> physics engine with a local open-source LLM, reading live sensor data (temp, energy) to dynamically inject optimal HVAC setpoints.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How it addresses the problem</a:t>
            </a:r>
          </a:p>
          <a:p>
            <a:pPr algn="just"/>
            <a:r>
              <a:rPr lang="en-US" dirty="0"/>
              <a:t>Legacy BMS systems waste energy due to rigid schedules and inability to adapt to real-time weather or occupancy. Eco-Loop actively relaxes cooling setpoints during peak loads to minimize compressor duty cycles.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Innovation and uniqueness of the solution </a:t>
            </a:r>
          </a:p>
          <a:p>
            <a:r>
              <a:rPr lang="en-US" b="1" dirty="0"/>
              <a:t>True Closed-Loop AI:</a:t>
            </a:r>
            <a:r>
              <a:rPr lang="en-US" dirty="0"/>
              <a:t> The LLM doesn't just suggest actions; it directly overwrites the C++ physics engine memory at runtime.</a:t>
            </a:r>
          </a:p>
          <a:p>
            <a:r>
              <a:rPr lang="en-US" b="1" dirty="0"/>
              <a:t>Sliding Window Memory:</a:t>
            </a:r>
            <a:r>
              <a:rPr lang="en-US" dirty="0"/>
              <a:t> Retains historical state context to prevent setpoint oscillation.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69997" y="1336167"/>
            <a:ext cx="11570766" cy="43088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/>
            <a:r>
              <a:rPr lang="en-US" sz="2800" dirty="0">
                <a:latin typeface="Arial" pitchFamily="34" charset="0"/>
                <a:cs typeface="Arial" pitchFamily="34" charset="0"/>
              </a:rPr>
              <a:t>Technologies to be used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Simulation Engine:</a:t>
            </a:r>
            <a:r>
              <a:rPr lang="en-US" dirty="0"/>
              <a:t> </a:t>
            </a:r>
            <a:r>
              <a:rPr lang="en-US" dirty="0" err="1"/>
              <a:t>EnergyPlus</a:t>
            </a:r>
            <a:r>
              <a:rPr lang="en-US" dirty="0"/>
              <a:t> (via the </a:t>
            </a:r>
            <a:r>
              <a:rPr lang="en-US" dirty="0" err="1"/>
              <a:t>PyEnergyPlus</a:t>
            </a:r>
            <a:r>
              <a:rPr lang="en-US" dirty="0"/>
              <a:t> native Python API).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Cognitive Engine:</a:t>
            </a:r>
            <a:r>
              <a:rPr lang="en-US" dirty="0"/>
              <a:t> Local Open-Source LLM (e.g., Llama 3 via </a:t>
            </a:r>
            <a:r>
              <a:rPr lang="en-US" dirty="0" err="1"/>
              <a:t>Ollama</a:t>
            </a:r>
            <a:r>
              <a:rPr lang="en-US" dirty="0"/>
              <a:t> REST API).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Dashboarding:</a:t>
            </a:r>
            <a:r>
              <a:rPr lang="en-US" dirty="0"/>
              <a:t> </a:t>
            </a:r>
            <a:r>
              <a:rPr lang="en-US" dirty="0" err="1"/>
              <a:t>Streamlit</a:t>
            </a:r>
            <a:r>
              <a:rPr lang="en-US" dirty="0"/>
              <a:t>, Pandas, </a:t>
            </a:r>
            <a:r>
              <a:rPr lang="en-US" dirty="0" err="1"/>
              <a:t>Plotly</a:t>
            </a:r>
            <a:r>
              <a:rPr lang="en-US" dirty="0"/>
              <a:t> (for real-time PMV and kWh telemetry).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US" sz="2800" dirty="0">
                <a:latin typeface="Arial" pitchFamily="34" charset="0"/>
                <a:cs typeface="Arial" pitchFamily="34" charset="0"/>
              </a:rPr>
              <a:t>Methodology and process for implementation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Step 1 (Telemetry):</a:t>
            </a:r>
            <a:r>
              <a:rPr lang="en-US" dirty="0"/>
              <a:t> </a:t>
            </a:r>
            <a:r>
              <a:rPr lang="en-US" dirty="0" err="1"/>
              <a:t>PyEnergyPlus</a:t>
            </a:r>
            <a:r>
              <a:rPr lang="en-US" dirty="0"/>
              <a:t> pauses at regular timesteps, extracting Zone Temperature, PMV (thermal comfort), and Energy usage.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Step 2 (Cognitive Evaluation):</a:t>
            </a:r>
            <a:r>
              <a:rPr lang="en-US" dirty="0"/>
              <a:t> The LLM parses the telemetry array using a strict JSON-enforced tool-calling structure.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Step 3 (Actuation):</a:t>
            </a:r>
            <a:r>
              <a:rPr lang="en-US" dirty="0"/>
              <a:t> The JSON response is parsed and injected directly into the </a:t>
            </a:r>
            <a:r>
              <a:rPr lang="en-US" dirty="0" err="1"/>
              <a:t>EnergyPlus</a:t>
            </a:r>
            <a:r>
              <a:rPr lang="en-US" dirty="0"/>
              <a:t> actuator API as a supervisory override.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Step 4 (Validation):</a:t>
            </a:r>
            <a:r>
              <a:rPr lang="en-US" dirty="0"/>
              <a:t> Real-time energy savings (kWh) are visualized against a legacy baseline on the </a:t>
            </a:r>
            <a:r>
              <a:rPr lang="en-US" dirty="0" err="1"/>
              <a:t>Streamlit</a:t>
            </a:r>
            <a:r>
              <a:rPr lang="en-US" dirty="0"/>
              <a:t> dashboard.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56B4FA1-D281-1D5E-4D9C-F017B91A86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7748" b="41857"/>
          <a:stretch>
            <a:fillRect/>
          </a:stretch>
        </p:blipFill>
        <p:spPr>
          <a:xfrm>
            <a:off x="1732686" y="5386443"/>
            <a:ext cx="9035028" cy="122850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273389" y="1263265"/>
            <a:ext cx="11645221" cy="51706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</a:p>
          <a:p>
            <a:pPr algn="just">
              <a:defRPr/>
            </a:pPr>
            <a:r>
              <a:rPr lang="en-US" b="1" dirty="0"/>
              <a:t>Highly feasible,</a:t>
            </a:r>
            <a:r>
              <a:rPr lang="en-US" dirty="0"/>
              <a:t> The solution uses open-source, industry-standard protocols (REST APIs) and existing building simulation software (</a:t>
            </a:r>
            <a:r>
              <a:rPr lang="en-US" dirty="0" err="1"/>
              <a:t>EnergyPlus</a:t>
            </a:r>
            <a:r>
              <a:rPr lang="en-US" dirty="0"/>
              <a:t>), requiring no proprietary hardware changes to deploy in modern digital twin setups.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r>
              <a:rPr lang="en-US" b="1" dirty="0"/>
              <a:t>AI Hallucinations:</a:t>
            </a:r>
            <a:r>
              <a:rPr lang="en-US" dirty="0"/>
              <a:t> LLMs occasionally output malformed markdown instead of strict JSON, crashing the C++ simulation loop.</a:t>
            </a:r>
          </a:p>
          <a:p>
            <a:r>
              <a:rPr lang="en-US" b="1" dirty="0"/>
              <a:t>Setpoint Oscillation:</a:t>
            </a:r>
            <a:r>
              <a:rPr lang="en-US" dirty="0"/>
              <a:t> The AI reacting too aggressively to minor temperature fluctuations, causing wear-and-tear on real-world HVAC equipment.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8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</a:p>
          <a:p>
            <a:r>
              <a:rPr lang="en-US" b="1" dirty="0"/>
              <a:t>Robust JSON Parsing:</a:t>
            </a:r>
            <a:r>
              <a:rPr lang="en-US" dirty="0"/>
              <a:t> We implemented a regex-based extraction layer that safely strips out conversational text and isolates the JSON payload.</a:t>
            </a:r>
          </a:p>
          <a:p>
            <a:r>
              <a:rPr lang="en-US" b="1" dirty="0"/>
              <a:t>Macro-Throttling &amp; Memory:</a:t>
            </a:r>
            <a:r>
              <a:rPr lang="en-US" dirty="0"/>
              <a:t> We implemented a "Sliding Window" state memory and throttled the LLM to only make macro-decisions (e.g., once every 24 hours), guaranteeing system stability.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09052-50AE-B3C2-6A1C-5CFF37D94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5E03BF1A-7989-5C44-934B-D93E14918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ARTIFACTS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B14AAA-63FC-5F17-FE74-5405495A1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4C6332B-BBD9-799D-50C5-6A19BC85E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B0E9B8-D2C6-5FA5-A711-89A51493A56C}"/>
              </a:ext>
            </a:extLst>
          </p:cNvPr>
          <p:cNvSpPr txBox="1"/>
          <p:nvPr/>
        </p:nvSpPr>
        <p:spPr>
          <a:xfrm>
            <a:off x="0" y="1396022"/>
            <a:ext cx="6794500" cy="5109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i="1" dirty="0">
                <a:solidFill>
                  <a:srgbClr val="9966B8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1050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DDBB88"/>
                </a:solidFill>
                <a:effectLst/>
                <a:latin typeface="Consolas" panose="020B0609020204030204" pitchFamily="49" charset="0"/>
              </a:rPr>
              <a:t>evaluate_and_act</a:t>
            </a:r>
            <a:r>
              <a:rPr lang="en-US" sz="1050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50" b="0" i="1" dirty="0">
                <a:solidFill>
                  <a:srgbClr val="2277FF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050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050" b="0" i="1" dirty="0">
                <a:solidFill>
                  <a:srgbClr val="2277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1050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050" b="0" i="1" dirty="0" err="1">
                <a:solidFill>
                  <a:srgbClr val="2277FF"/>
                </a:solidFill>
                <a:effectLst/>
                <a:latin typeface="Consolas" panose="020B0609020204030204" pitchFamily="49" charset="0"/>
              </a:rPr>
              <a:t>pmv</a:t>
            </a:r>
            <a:r>
              <a:rPr lang="en-US" sz="1050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050" b="0" i="1" dirty="0">
                <a:solidFill>
                  <a:srgbClr val="2277FF"/>
                </a:solidFill>
                <a:effectLst/>
                <a:latin typeface="Consolas" panose="020B0609020204030204" pitchFamily="49" charset="0"/>
              </a:rPr>
              <a:t>energy</a:t>
            </a:r>
            <a:r>
              <a:rPr lang="en-US" sz="1050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50" b="0" dirty="0" err="1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system_prompt</a:t>
            </a:r>
            <a:r>
              <a:rPr lang="en-US" sz="1050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225588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50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22AA44"/>
                </a:solidFill>
                <a:effectLst/>
                <a:latin typeface="Consolas" panose="020B0609020204030204" pitchFamily="49" charset="0"/>
              </a:rPr>
              <a:t>"""</a:t>
            </a:r>
            <a:r>
              <a:rPr lang="en-US" sz="1050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50" b="0" dirty="0" err="1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user_prompt</a:t>
            </a:r>
            <a:r>
              <a:rPr lang="en-US" sz="1050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225588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50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i="1" dirty="0" err="1">
                <a:solidFill>
                  <a:srgbClr val="9966B8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050" b="0" dirty="0" err="1">
                <a:solidFill>
                  <a:srgbClr val="22AA44"/>
                </a:solidFill>
                <a:effectLst/>
                <a:latin typeface="Consolas" panose="020B0609020204030204" pitchFamily="49" charset="0"/>
              </a:rPr>
              <a:t>"Current</a:t>
            </a:r>
            <a:r>
              <a:rPr lang="en-US" sz="1050" b="0" dirty="0">
                <a:solidFill>
                  <a:srgbClr val="22AA44"/>
                </a:solidFill>
                <a:effectLst/>
                <a:latin typeface="Consolas" panose="020B0609020204030204" pitchFamily="49" charset="0"/>
              </a:rPr>
              <a:t> State - Temp: </a:t>
            </a:r>
            <a:r>
              <a:rPr lang="en-US" sz="1050" b="0" dirty="0">
                <a:solidFill>
                  <a:srgbClr val="F280D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050" b="0" i="1" dirty="0">
                <a:solidFill>
                  <a:srgbClr val="2277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1050" b="0" dirty="0">
                <a:solidFill>
                  <a:srgbClr val="F280D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050" b="0" dirty="0">
                <a:solidFill>
                  <a:srgbClr val="22AA44"/>
                </a:solidFill>
                <a:effectLst/>
                <a:latin typeface="Consolas" panose="020B0609020204030204" pitchFamily="49" charset="0"/>
              </a:rPr>
              <a:t>C, PMV: </a:t>
            </a:r>
            <a:r>
              <a:rPr lang="en-US" sz="1050" b="0" dirty="0">
                <a:solidFill>
                  <a:srgbClr val="F280D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050" b="0" i="1" dirty="0" err="1">
                <a:solidFill>
                  <a:srgbClr val="2277FF"/>
                </a:solidFill>
                <a:effectLst/>
                <a:latin typeface="Consolas" panose="020B0609020204030204" pitchFamily="49" charset="0"/>
              </a:rPr>
              <a:t>pmv</a:t>
            </a:r>
            <a:r>
              <a:rPr lang="en-US" sz="1050" b="0" dirty="0">
                <a:solidFill>
                  <a:srgbClr val="F280D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050" b="0" dirty="0">
                <a:solidFill>
                  <a:srgbClr val="22AA44"/>
                </a:solidFill>
                <a:effectLst/>
                <a:latin typeface="Consolas" panose="020B0609020204030204" pitchFamily="49" charset="0"/>
              </a:rPr>
              <a:t>, Energy: </a:t>
            </a:r>
            <a:r>
              <a:rPr lang="en-US" sz="1050" b="0" dirty="0">
                <a:solidFill>
                  <a:srgbClr val="F280D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050" b="0" i="1" dirty="0">
                <a:solidFill>
                  <a:srgbClr val="2277FF"/>
                </a:solidFill>
                <a:effectLst/>
                <a:latin typeface="Consolas" panose="020B0609020204030204" pitchFamily="49" charset="0"/>
              </a:rPr>
              <a:t>energy</a:t>
            </a:r>
            <a:r>
              <a:rPr lang="en-US" sz="1050" b="0" dirty="0">
                <a:solidFill>
                  <a:srgbClr val="F280D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050" b="0" dirty="0">
                <a:solidFill>
                  <a:srgbClr val="22AA44"/>
                </a:solidFill>
                <a:effectLst/>
                <a:latin typeface="Consolas" panose="020B0609020204030204" pitchFamily="49" charset="0"/>
              </a:rPr>
              <a:t>kWh. What are the optimal setpoints?"</a:t>
            </a:r>
            <a:endParaRPr lang="en-US" sz="1050" b="0" dirty="0">
              <a:solidFill>
                <a:srgbClr val="6688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        messages </a:t>
            </a:r>
            <a:r>
              <a:rPr lang="en-US" sz="1050" b="0" dirty="0">
                <a:solidFill>
                  <a:srgbClr val="225588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50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 [{</a:t>
            </a:r>
            <a:r>
              <a:rPr lang="en-US" sz="1050" b="0" dirty="0">
                <a:solidFill>
                  <a:srgbClr val="22AA44"/>
                </a:solidFill>
                <a:effectLst/>
                <a:latin typeface="Consolas" panose="020B0609020204030204" pitchFamily="49" charset="0"/>
              </a:rPr>
              <a:t>"role"</a:t>
            </a:r>
            <a:r>
              <a:rPr lang="en-US" sz="1050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050" b="0" dirty="0">
                <a:solidFill>
                  <a:srgbClr val="22AA44"/>
                </a:solidFill>
                <a:effectLst/>
                <a:latin typeface="Consolas" panose="020B0609020204030204" pitchFamily="49" charset="0"/>
              </a:rPr>
              <a:t>"system"</a:t>
            </a:r>
            <a:r>
              <a:rPr lang="en-US" sz="1050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050" b="0" dirty="0">
                <a:solidFill>
                  <a:srgbClr val="22AA44"/>
                </a:solidFill>
                <a:effectLst/>
                <a:latin typeface="Consolas" panose="020B0609020204030204" pitchFamily="49" charset="0"/>
              </a:rPr>
              <a:t>"content"</a:t>
            </a:r>
            <a:r>
              <a:rPr lang="en-US" sz="1050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050" b="0" dirty="0" err="1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system_prompt</a:t>
            </a:r>
            <a:r>
              <a:rPr lang="en-US" sz="1050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}]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50" b="0" dirty="0" err="1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messages.</a:t>
            </a:r>
            <a:r>
              <a:rPr lang="en-US" sz="1050" b="0" dirty="0" err="1">
                <a:solidFill>
                  <a:srgbClr val="DDBB88"/>
                </a:solidFill>
                <a:effectLst/>
                <a:latin typeface="Consolas" panose="020B0609020204030204" pitchFamily="49" charset="0"/>
              </a:rPr>
              <a:t>extend</a:t>
            </a:r>
            <a:r>
              <a:rPr lang="en-US" sz="1050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50" b="0" i="1" dirty="0" err="1">
                <a:solidFill>
                  <a:srgbClr val="2277FF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050" b="0" dirty="0" err="1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.history</a:t>
            </a:r>
            <a:r>
              <a:rPr lang="en-US" sz="1050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50" b="0" dirty="0" err="1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messages.</a:t>
            </a:r>
            <a:r>
              <a:rPr lang="en-US" sz="1050" b="0" dirty="0" err="1">
                <a:solidFill>
                  <a:srgbClr val="DDBB88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sz="1050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({</a:t>
            </a:r>
            <a:r>
              <a:rPr lang="en-US" sz="1050" b="0" dirty="0">
                <a:solidFill>
                  <a:srgbClr val="22AA44"/>
                </a:solidFill>
                <a:effectLst/>
                <a:latin typeface="Consolas" panose="020B0609020204030204" pitchFamily="49" charset="0"/>
              </a:rPr>
              <a:t>"role"</a:t>
            </a:r>
            <a:r>
              <a:rPr lang="en-US" sz="1050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050" b="0" dirty="0">
                <a:solidFill>
                  <a:srgbClr val="22AA44"/>
                </a:solidFill>
                <a:effectLst/>
                <a:latin typeface="Consolas" panose="020B0609020204030204" pitchFamily="49" charset="0"/>
              </a:rPr>
              <a:t>"user"</a:t>
            </a:r>
            <a:r>
              <a:rPr lang="en-US" sz="1050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050" b="0" dirty="0">
                <a:solidFill>
                  <a:srgbClr val="22AA44"/>
                </a:solidFill>
                <a:effectLst/>
                <a:latin typeface="Consolas" panose="020B0609020204030204" pitchFamily="49" charset="0"/>
              </a:rPr>
              <a:t>"content"</a:t>
            </a:r>
            <a:r>
              <a:rPr lang="en-US" sz="1050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050" b="0" dirty="0" err="1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user_prompt</a:t>
            </a:r>
            <a:r>
              <a:rPr lang="en-US" sz="1050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})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50" b="0" dirty="0">
                <a:solidFill>
                  <a:srgbClr val="225588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sz="1050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            response </a:t>
            </a:r>
            <a:r>
              <a:rPr lang="en-US" sz="1050" b="0" dirty="0">
                <a:solidFill>
                  <a:srgbClr val="225588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50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i="1" dirty="0" err="1">
                <a:solidFill>
                  <a:srgbClr val="2277FF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050" b="0" dirty="0" err="1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.client.chat.completions.</a:t>
            </a:r>
            <a:r>
              <a:rPr lang="en-US" sz="1050" b="0" dirty="0" err="1">
                <a:solidFill>
                  <a:srgbClr val="DDBB88"/>
                </a:solidFill>
                <a:effectLst/>
                <a:latin typeface="Consolas" panose="020B0609020204030204" pitchFamily="49" charset="0"/>
              </a:rPr>
              <a:t>create</a:t>
            </a:r>
            <a:r>
              <a:rPr lang="en-US" sz="1050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050" b="0" i="1" dirty="0">
                <a:solidFill>
                  <a:srgbClr val="2277FF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sz="1050" b="0" dirty="0">
                <a:solidFill>
                  <a:srgbClr val="225588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50" b="0" i="1" dirty="0" err="1">
                <a:solidFill>
                  <a:srgbClr val="2277FF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050" b="0" dirty="0" err="1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.model</a:t>
            </a:r>
            <a:r>
              <a:rPr lang="en-US" sz="1050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050" b="0" i="1" dirty="0">
                <a:solidFill>
                  <a:srgbClr val="2277FF"/>
                </a:solidFill>
                <a:effectLst/>
                <a:latin typeface="Consolas" panose="020B0609020204030204" pitchFamily="49" charset="0"/>
              </a:rPr>
              <a:t>messages</a:t>
            </a:r>
            <a:r>
              <a:rPr lang="en-US" sz="1050" b="0" dirty="0">
                <a:solidFill>
                  <a:srgbClr val="225588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50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messages,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050" b="0" i="1" dirty="0" err="1">
                <a:solidFill>
                  <a:srgbClr val="2277FF"/>
                </a:solidFill>
                <a:effectLst/>
                <a:latin typeface="Consolas" panose="020B0609020204030204" pitchFamily="49" charset="0"/>
              </a:rPr>
              <a:t>response_format</a:t>
            </a:r>
            <a:r>
              <a:rPr lang="en-US" sz="1050" b="0" dirty="0">
                <a:solidFill>
                  <a:srgbClr val="225588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50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sz="1050" b="0" dirty="0">
                <a:solidFill>
                  <a:srgbClr val="22AA44"/>
                </a:solidFill>
                <a:effectLst/>
                <a:latin typeface="Consolas" panose="020B0609020204030204" pitchFamily="49" charset="0"/>
              </a:rPr>
              <a:t>"type"</a:t>
            </a:r>
            <a:r>
              <a:rPr lang="en-US" sz="1050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050" b="0" dirty="0">
                <a:solidFill>
                  <a:srgbClr val="22AA4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050" b="0" dirty="0" err="1">
                <a:solidFill>
                  <a:srgbClr val="22AA44"/>
                </a:solidFill>
                <a:effectLst/>
                <a:latin typeface="Consolas" panose="020B0609020204030204" pitchFamily="49" charset="0"/>
              </a:rPr>
              <a:t>json_object</a:t>
            </a:r>
            <a:r>
              <a:rPr lang="en-US" sz="1050" b="0" dirty="0">
                <a:solidFill>
                  <a:srgbClr val="22AA4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050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 },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050" b="0" i="1" dirty="0">
                <a:solidFill>
                  <a:srgbClr val="2277FF"/>
                </a:solidFill>
                <a:effectLst/>
                <a:latin typeface="Consolas" panose="020B0609020204030204" pitchFamily="49" charset="0"/>
              </a:rPr>
              <a:t>temperature</a:t>
            </a:r>
            <a:r>
              <a:rPr lang="en-US" sz="1050" b="0" dirty="0">
                <a:solidFill>
                  <a:srgbClr val="225588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50" b="0" dirty="0">
                <a:solidFill>
                  <a:srgbClr val="F280D0"/>
                </a:solidFill>
                <a:effectLst/>
                <a:latin typeface="Consolas" panose="020B0609020204030204" pitchFamily="49" charset="0"/>
              </a:rPr>
              <a:t>0.1</a:t>
            </a:r>
            <a:endParaRPr lang="en-US" sz="1050" b="0" dirty="0">
              <a:solidFill>
                <a:srgbClr val="6688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            )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            result </a:t>
            </a:r>
            <a:r>
              <a:rPr lang="en-US" sz="1050" b="0" dirty="0">
                <a:solidFill>
                  <a:srgbClr val="225588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50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response.choices</a:t>
            </a:r>
            <a:r>
              <a:rPr lang="en-US" sz="1050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050" b="0" dirty="0">
                <a:solidFill>
                  <a:srgbClr val="F280D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050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US" sz="1050" b="0" dirty="0" err="1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message.content</a:t>
            </a:r>
            <a:endParaRPr lang="en-US" sz="1050" b="0" dirty="0">
              <a:solidFill>
                <a:srgbClr val="6688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050" b="0" dirty="0" err="1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parsed_decision</a:t>
            </a:r>
            <a:r>
              <a:rPr lang="en-US" sz="1050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225588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50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i="1" dirty="0">
                <a:solidFill>
                  <a:srgbClr val="2277FF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050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50" b="0" dirty="0">
                <a:solidFill>
                  <a:srgbClr val="DDBB88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US" sz="1050" b="0" dirty="0" err="1">
                <a:solidFill>
                  <a:srgbClr val="DDBB88"/>
                </a:solidFill>
                <a:effectLst/>
                <a:latin typeface="Consolas" panose="020B0609020204030204" pitchFamily="49" charset="0"/>
              </a:rPr>
              <a:t>safe_json</a:t>
            </a:r>
            <a:r>
              <a:rPr lang="en-US" sz="1050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(result)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050" b="0" i="1" dirty="0" err="1">
                <a:solidFill>
                  <a:srgbClr val="2277FF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050" b="0" dirty="0" err="1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.history.</a:t>
            </a:r>
            <a:r>
              <a:rPr lang="en-US" sz="1050" b="0" dirty="0" err="1">
                <a:solidFill>
                  <a:srgbClr val="DDBB88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sz="1050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({</a:t>
            </a:r>
            <a:r>
              <a:rPr lang="en-US" sz="1050" b="0" dirty="0">
                <a:solidFill>
                  <a:srgbClr val="22AA44"/>
                </a:solidFill>
                <a:effectLst/>
                <a:latin typeface="Consolas" panose="020B0609020204030204" pitchFamily="49" charset="0"/>
              </a:rPr>
              <a:t>"role"</a:t>
            </a:r>
            <a:r>
              <a:rPr lang="en-US" sz="1050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050" b="0" dirty="0">
                <a:solidFill>
                  <a:srgbClr val="22AA44"/>
                </a:solidFill>
                <a:effectLst/>
                <a:latin typeface="Consolas" panose="020B0609020204030204" pitchFamily="49" charset="0"/>
              </a:rPr>
              <a:t>"user"</a:t>
            </a:r>
            <a:r>
              <a:rPr lang="en-US" sz="1050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050" b="0" dirty="0">
                <a:solidFill>
                  <a:srgbClr val="22AA44"/>
                </a:solidFill>
                <a:effectLst/>
                <a:latin typeface="Consolas" panose="020B0609020204030204" pitchFamily="49" charset="0"/>
              </a:rPr>
              <a:t>"content"</a:t>
            </a:r>
            <a:r>
              <a:rPr lang="en-US" sz="1050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050" b="0" dirty="0" err="1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user_prompt</a:t>
            </a:r>
            <a:r>
              <a:rPr lang="en-US" sz="1050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})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050" b="0" i="1" dirty="0" err="1">
                <a:solidFill>
                  <a:srgbClr val="2277FF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050" b="0" dirty="0" err="1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.history.</a:t>
            </a:r>
            <a:r>
              <a:rPr lang="en-US" sz="1050" b="0" dirty="0" err="1">
                <a:solidFill>
                  <a:srgbClr val="DDBB88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sz="1050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({</a:t>
            </a:r>
            <a:r>
              <a:rPr lang="en-US" sz="1050" b="0" dirty="0">
                <a:solidFill>
                  <a:srgbClr val="22AA44"/>
                </a:solidFill>
                <a:effectLst/>
                <a:latin typeface="Consolas" panose="020B0609020204030204" pitchFamily="49" charset="0"/>
              </a:rPr>
              <a:t>"role"</a:t>
            </a:r>
            <a:r>
              <a:rPr lang="en-US" sz="1050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050" b="0" dirty="0">
                <a:solidFill>
                  <a:srgbClr val="22AA44"/>
                </a:solidFill>
                <a:effectLst/>
                <a:latin typeface="Consolas" panose="020B0609020204030204" pitchFamily="49" charset="0"/>
              </a:rPr>
              <a:t>"assistant"</a:t>
            </a:r>
            <a:r>
              <a:rPr lang="en-US" sz="1050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050" b="0" dirty="0">
                <a:solidFill>
                  <a:srgbClr val="22AA44"/>
                </a:solidFill>
                <a:effectLst/>
                <a:latin typeface="Consolas" panose="020B0609020204030204" pitchFamily="49" charset="0"/>
              </a:rPr>
              <a:t>"content"</a:t>
            </a:r>
            <a:r>
              <a:rPr lang="en-US" sz="1050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050" b="0" u="sng" dirty="0" err="1">
                <a:solidFill>
                  <a:srgbClr val="FFEEBB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en-US" sz="1050" b="0" dirty="0" err="1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50" b="0" dirty="0" err="1">
                <a:solidFill>
                  <a:srgbClr val="DDBB88"/>
                </a:solidFill>
                <a:effectLst/>
                <a:latin typeface="Consolas" panose="020B0609020204030204" pitchFamily="49" charset="0"/>
              </a:rPr>
              <a:t>dumps</a:t>
            </a:r>
            <a:r>
              <a:rPr lang="en-US" sz="1050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50" b="0" dirty="0" err="1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parsed_decision</a:t>
            </a:r>
            <a:r>
              <a:rPr lang="en-US" sz="1050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)})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050" b="0" dirty="0">
                <a:solidFill>
                  <a:srgbClr val="225588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050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9966B8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sz="1050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50" b="0" i="1" dirty="0" err="1">
                <a:solidFill>
                  <a:srgbClr val="2277FF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050" b="0" dirty="0" err="1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.history</a:t>
            </a:r>
            <a:r>
              <a:rPr lang="en-US" sz="1050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050" b="0" dirty="0">
                <a:solidFill>
                  <a:srgbClr val="225588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050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i="1" dirty="0" err="1">
                <a:solidFill>
                  <a:srgbClr val="2277FF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050" b="0" dirty="0" err="1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.max_history</a:t>
            </a:r>
            <a:r>
              <a:rPr lang="en-US" sz="1050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225588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050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F280D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050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:  </a:t>
            </a:r>
            <a:r>
              <a:rPr lang="en-US" sz="1050" b="0" dirty="0">
                <a:solidFill>
                  <a:srgbClr val="384887"/>
                </a:solidFill>
                <a:effectLst/>
                <a:latin typeface="Consolas" panose="020B0609020204030204" pitchFamily="49" charset="0"/>
              </a:rPr>
              <a:t># maintain at most `</a:t>
            </a:r>
            <a:r>
              <a:rPr lang="en-US" sz="1050" b="0" dirty="0" err="1">
                <a:solidFill>
                  <a:srgbClr val="384887"/>
                </a:solidFill>
                <a:effectLst/>
                <a:latin typeface="Consolas" panose="020B0609020204030204" pitchFamily="49" charset="0"/>
              </a:rPr>
              <a:t>max_history</a:t>
            </a:r>
            <a:r>
              <a:rPr lang="en-US" sz="1050" b="0" dirty="0">
                <a:solidFill>
                  <a:srgbClr val="384887"/>
                </a:solidFill>
                <a:effectLst/>
                <a:latin typeface="Consolas" panose="020B0609020204030204" pitchFamily="49" charset="0"/>
              </a:rPr>
              <a:t>` turn pairs</a:t>
            </a:r>
            <a:endParaRPr lang="en-US" sz="1050" b="0" dirty="0">
              <a:solidFill>
                <a:srgbClr val="6688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050" b="0" i="1" dirty="0" err="1">
                <a:solidFill>
                  <a:srgbClr val="2277FF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050" b="0" dirty="0" err="1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.history</a:t>
            </a:r>
            <a:r>
              <a:rPr lang="en-US" sz="1050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225588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50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i="1" dirty="0" err="1">
                <a:solidFill>
                  <a:srgbClr val="2277FF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050" b="0" dirty="0" err="1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.history</a:t>
            </a:r>
            <a:r>
              <a:rPr lang="en-US" sz="1050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050" b="0" dirty="0">
                <a:solidFill>
                  <a:srgbClr val="225588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050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50" b="0" i="1" dirty="0" err="1">
                <a:solidFill>
                  <a:srgbClr val="2277FF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050" b="0" dirty="0" err="1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.max_history</a:t>
            </a:r>
            <a:r>
              <a:rPr lang="en-US" sz="1050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225588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050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F280D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050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):]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050" b="0" dirty="0">
                <a:solidFill>
                  <a:srgbClr val="225588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050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parsed_decision</a:t>
            </a:r>
            <a:endParaRPr lang="en-US" sz="1050" b="0" dirty="0">
              <a:solidFill>
                <a:srgbClr val="6688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50" b="0" dirty="0">
                <a:solidFill>
                  <a:srgbClr val="225588"/>
                </a:solidFill>
                <a:effectLst/>
                <a:latin typeface="Consolas" panose="020B0609020204030204" pitchFamily="49" charset="0"/>
              </a:rPr>
              <a:t>except</a:t>
            </a:r>
            <a:r>
              <a:rPr lang="en-US" sz="1050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i="1" dirty="0">
                <a:solidFill>
                  <a:srgbClr val="9966B8"/>
                </a:solidFill>
                <a:effectLst/>
                <a:latin typeface="Consolas" panose="020B0609020204030204" pitchFamily="49" charset="0"/>
              </a:rPr>
              <a:t>Exception</a:t>
            </a:r>
            <a:r>
              <a:rPr lang="en-US" sz="1050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225588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1050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 e: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050" b="0" dirty="0">
                <a:solidFill>
                  <a:srgbClr val="9966B8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050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50" b="0" i="1" dirty="0" err="1">
                <a:solidFill>
                  <a:srgbClr val="9966B8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050" b="0" dirty="0" err="1">
                <a:solidFill>
                  <a:srgbClr val="22AA44"/>
                </a:solidFill>
                <a:effectLst/>
                <a:latin typeface="Consolas" panose="020B0609020204030204" pitchFamily="49" charset="0"/>
              </a:rPr>
              <a:t>"Agent</a:t>
            </a:r>
            <a:r>
              <a:rPr lang="en-US" sz="1050" b="0" dirty="0">
                <a:solidFill>
                  <a:srgbClr val="22AA44"/>
                </a:solidFill>
                <a:effectLst/>
                <a:latin typeface="Consolas" panose="020B0609020204030204" pitchFamily="49" charset="0"/>
              </a:rPr>
              <a:t> Error: </a:t>
            </a:r>
            <a:r>
              <a:rPr lang="en-US" sz="1050" b="0" dirty="0">
                <a:solidFill>
                  <a:srgbClr val="F280D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050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sz="1050" b="0" dirty="0">
                <a:solidFill>
                  <a:srgbClr val="F280D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050" b="0" dirty="0">
                <a:solidFill>
                  <a:srgbClr val="22AA4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050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050" b="0" dirty="0">
                <a:solidFill>
                  <a:srgbClr val="384887"/>
                </a:solidFill>
                <a:effectLst/>
                <a:latin typeface="Consolas" panose="020B0609020204030204" pitchFamily="49" charset="0"/>
              </a:rPr>
              <a:t># Fallback safe setpoints</a:t>
            </a:r>
            <a:endParaRPr lang="en-US" sz="1050" b="0" dirty="0">
              <a:solidFill>
                <a:srgbClr val="6688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050" b="0" dirty="0">
                <a:solidFill>
                  <a:srgbClr val="225588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050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US" sz="1050" b="0" dirty="0">
                <a:solidFill>
                  <a:srgbClr val="22AA4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050" b="0" dirty="0" err="1">
                <a:solidFill>
                  <a:srgbClr val="22AA44"/>
                </a:solidFill>
                <a:effectLst/>
                <a:latin typeface="Consolas" panose="020B0609020204030204" pitchFamily="49" charset="0"/>
              </a:rPr>
              <a:t>heating_setpoint</a:t>
            </a:r>
            <a:r>
              <a:rPr lang="en-US" sz="1050" b="0" dirty="0">
                <a:solidFill>
                  <a:srgbClr val="22AA4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050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050" b="0" dirty="0">
                <a:solidFill>
                  <a:srgbClr val="F280D0"/>
                </a:solidFill>
                <a:effectLst/>
                <a:latin typeface="Consolas" panose="020B0609020204030204" pitchFamily="49" charset="0"/>
              </a:rPr>
              <a:t>20.0</a:t>
            </a:r>
            <a:r>
              <a:rPr lang="en-US" sz="1050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050" b="0" dirty="0">
                <a:solidFill>
                  <a:srgbClr val="22AA4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050" b="0" dirty="0" err="1">
                <a:solidFill>
                  <a:srgbClr val="22AA44"/>
                </a:solidFill>
                <a:effectLst/>
                <a:latin typeface="Consolas" panose="020B0609020204030204" pitchFamily="49" charset="0"/>
              </a:rPr>
              <a:t>cooling_setpoint</a:t>
            </a:r>
            <a:r>
              <a:rPr lang="en-US" sz="1050" b="0" dirty="0">
                <a:solidFill>
                  <a:srgbClr val="22AA4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050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050" b="0" dirty="0">
                <a:solidFill>
                  <a:srgbClr val="F280D0"/>
                </a:solidFill>
                <a:effectLst/>
                <a:latin typeface="Consolas" panose="020B0609020204030204" pitchFamily="49" charset="0"/>
              </a:rPr>
              <a:t>24.0</a:t>
            </a:r>
            <a:r>
              <a:rPr lang="en-US" sz="1050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050" b="0" dirty="0">
                <a:solidFill>
                  <a:srgbClr val="22AA44"/>
                </a:solidFill>
                <a:effectLst/>
                <a:latin typeface="Consolas" panose="020B0609020204030204" pitchFamily="49" charset="0"/>
              </a:rPr>
              <a:t>"reasoning"</a:t>
            </a:r>
            <a:r>
              <a:rPr lang="en-US" sz="1050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050" b="0" dirty="0">
                <a:solidFill>
                  <a:srgbClr val="22AA44"/>
                </a:solidFill>
                <a:effectLst/>
                <a:latin typeface="Consolas" panose="020B0609020204030204" pitchFamily="49" charset="0"/>
              </a:rPr>
              <a:t>"Fallback due to error"</a:t>
            </a:r>
            <a:r>
              <a:rPr lang="en-US" sz="1050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F0BEDA8-F307-0BD4-0E3D-1E1D461DE83A}"/>
              </a:ext>
            </a:extLst>
          </p:cNvPr>
          <p:cNvSpPr/>
          <p:nvPr/>
        </p:nvSpPr>
        <p:spPr>
          <a:xfrm>
            <a:off x="248318" y="1004147"/>
            <a:ext cx="5573962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u="sng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evaluate_and_act</a:t>
            </a:r>
            <a:r>
              <a:rPr lang="en-US" sz="2000" b="0" u="sng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function inside backend/agent.py</a:t>
            </a:r>
            <a:endParaRPr lang="en-GB" sz="2000" b="0" u="sng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5218E80-4490-D2DC-3519-381C7EEF3C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1000" y="1502542"/>
            <a:ext cx="5187950" cy="250578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16570E0-8886-2061-195A-11F41D10784C}"/>
              </a:ext>
            </a:extLst>
          </p:cNvPr>
          <p:cNvSpPr txBox="1"/>
          <p:nvPr/>
        </p:nvSpPr>
        <p:spPr>
          <a:xfrm>
            <a:off x="6794500" y="4514958"/>
            <a:ext cx="52832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Performing Zone Sizing Simulation</a:t>
            </a:r>
          </a:p>
          <a:p>
            <a:r>
              <a:rPr lang="en-US" sz="1000" dirty="0"/>
              <a:t>...for Sizing Period: #2 IND_CHENNAI ANNUAL COOLING 1% DESIGN CONDITIONS DB/MCWB</a:t>
            </a:r>
          </a:p>
          <a:p>
            <a:r>
              <a:rPr lang="en-US" sz="1000" dirty="0"/>
              <a:t>Calculating System sizing</a:t>
            </a:r>
          </a:p>
          <a:p>
            <a:r>
              <a:rPr lang="en-US" sz="1000" dirty="0"/>
              <a:t>...for Sizing Period: #1 IND_CHENNAI ANNUAL HEATING 99% DESIGN CONDITIONS DB</a:t>
            </a:r>
          </a:p>
          <a:p>
            <a:r>
              <a:rPr lang="en-US" sz="1000" dirty="0"/>
              <a:t>Calculating System sizing</a:t>
            </a:r>
          </a:p>
          <a:p>
            <a:r>
              <a:rPr lang="en-US" sz="1000" dirty="0"/>
              <a:t>...for Sizing Period: #2 IND_CHENNAI ANNUAL COOLING 1% DESIGN CONDITIONS DB/MCWB</a:t>
            </a:r>
          </a:p>
          <a:p>
            <a:r>
              <a:rPr lang="en-US" sz="1000" dirty="0"/>
              <a:t>Adjusting Air System Sizing</a:t>
            </a:r>
          </a:p>
          <a:p>
            <a:r>
              <a:rPr lang="en-US" sz="1000" dirty="0"/>
              <a:t>Adjusting Standard 62.1 Ventilation Sizing</a:t>
            </a:r>
          </a:p>
          <a:p>
            <a:r>
              <a:rPr lang="en-US" sz="1000" dirty="0"/>
              <a:t>Initializing Simulation</a:t>
            </a:r>
          </a:p>
          <a:p>
            <a:r>
              <a:rPr lang="en-US" sz="1000" dirty="0"/>
              <a:t>Reporting Surfaces</a:t>
            </a:r>
          </a:p>
          <a:p>
            <a:r>
              <a:rPr lang="en-US" sz="1000" dirty="0"/>
              <a:t>Beginning Primary Simulation</a:t>
            </a:r>
          </a:p>
          <a:p>
            <a:r>
              <a:rPr lang="en-US" sz="1000" dirty="0"/>
              <a:t>Initializing New Environment Parameters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0C0E6A5-7499-3DDD-C000-2AA71A01459E}"/>
              </a:ext>
            </a:extLst>
          </p:cNvPr>
          <p:cNvSpPr/>
          <p:nvPr/>
        </p:nvSpPr>
        <p:spPr>
          <a:xfrm>
            <a:off x="8582019" y="1028351"/>
            <a:ext cx="1314462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2000" b="0" u="sng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Dashboard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85E832B-D3D2-0489-DD20-480209A5EE9B}"/>
              </a:ext>
            </a:extLst>
          </p:cNvPr>
          <p:cNvSpPr/>
          <p:nvPr/>
        </p:nvSpPr>
        <p:spPr>
          <a:xfrm>
            <a:off x="8293478" y="4114848"/>
            <a:ext cx="1891544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2000" u="sng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Terminal Output</a:t>
            </a:r>
            <a:endParaRPr lang="en-GB" sz="2000" b="0" u="sng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734478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344354" y="1399233"/>
            <a:ext cx="11847645" cy="5078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Physics Engine (NREL </a:t>
            </a:r>
            <a:r>
              <a:rPr lang="en-US" b="1" dirty="0" err="1"/>
              <a:t>EnergyPlus</a:t>
            </a:r>
            <a:r>
              <a:rPr lang="en-US" b="1" dirty="0"/>
              <a:t>):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Utilized the U.S. Department of Energy's open-source whole-building energy simulation engine for high-fidelity thermodynamic validation.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i="1" dirty="0"/>
              <a:t>Reference:</a:t>
            </a:r>
            <a:r>
              <a:rPr lang="en-US" dirty="0"/>
              <a:t> </a:t>
            </a:r>
            <a:r>
              <a:rPr lang="en-US" dirty="0">
                <a:hlinkClick r:id="rId3"/>
              </a:rPr>
              <a:t>https://energyplus.net/</a:t>
            </a:r>
            <a:endParaRPr lang="en-US" dirty="0"/>
          </a:p>
          <a:p>
            <a:pPr lvl="1"/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Native API Integration (</a:t>
            </a:r>
            <a:r>
              <a:rPr lang="en-US" b="1" dirty="0" err="1"/>
              <a:t>PyEnergyPlus</a:t>
            </a:r>
            <a:r>
              <a:rPr lang="en-US" b="1" dirty="0"/>
              <a:t>):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Leveraged the C++ memory-injection API to bypass slow file I/O and achieve real-time, closed-loop actuation.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i="1" dirty="0"/>
              <a:t>Reference:</a:t>
            </a:r>
            <a:r>
              <a:rPr lang="en-US" dirty="0"/>
              <a:t> </a:t>
            </a:r>
            <a:r>
              <a:rPr lang="en-US" dirty="0">
                <a:hlinkClick r:id="rId4"/>
              </a:rPr>
              <a:t>https://energyplus.readthedocs.io/en/latest/api.html</a:t>
            </a:r>
            <a:endParaRPr lang="en-US" dirty="0"/>
          </a:p>
          <a:p>
            <a:pPr lvl="1"/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Cognitive Engine &amp; Tool Calling (OSS LLMs):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Implemented via the open-source Llama 3 / </a:t>
            </a:r>
            <a:r>
              <a:rPr lang="en-US" dirty="0" err="1"/>
              <a:t>Ollama</a:t>
            </a:r>
            <a:r>
              <a:rPr lang="en-US" dirty="0"/>
              <a:t> architecture using standardized REST protocols to parse telemetry and inject optimal setpoints.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i="1" dirty="0"/>
              <a:t>Reference:</a:t>
            </a:r>
            <a:r>
              <a:rPr lang="en-US" dirty="0"/>
              <a:t> </a:t>
            </a:r>
            <a:r>
              <a:rPr lang="en-US" dirty="0">
                <a:hlinkClick r:id="rId5"/>
              </a:rPr>
              <a:t>https://ollama.com/</a:t>
            </a:r>
            <a:endParaRPr lang="en-US" dirty="0"/>
          </a:p>
          <a:p>
            <a:pPr lvl="1"/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Thermal Comfort Bounds (ASHRAE Standard 55):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 LLM was strictly constrained to operate within the globally recognized Predicted Mean Vote (PMV) range of -0.5 to +0.5 to guarantee human comfort.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i="1" dirty="0"/>
              <a:t>Reference:</a:t>
            </a:r>
            <a:r>
              <a:rPr lang="en-US" dirty="0"/>
              <a:t> </a:t>
            </a:r>
            <a:r>
              <a:rPr lang="en-US" dirty="0">
                <a:hlinkClick r:id="rId6"/>
              </a:rPr>
              <a:t>https://www.ashrae.org/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d546e5e1-5d42-4630-bacd-c69bfdcbd5e8}" enabled="1" method="Standard" siteId="{96ece526-9c7d-48b0-8daf-8b93c90a5d18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7689</TotalTime>
  <Words>1089</Words>
  <Application>Microsoft Office PowerPoint</Application>
  <PresentationFormat>Widescreen</PresentationFormat>
  <Paragraphs>115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Consolas</vt:lpstr>
      <vt:lpstr>Times New Roman</vt:lpstr>
      <vt:lpstr>TradeGothic</vt:lpstr>
      <vt:lpstr>Office Theme</vt:lpstr>
      <vt:lpstr>PowerPoint Presentation</vt:lpstr>
      <vt:lpstr> Proposed Solution: Eco-Loop - Autonomous Physical AI for Smart Buildings </vt:lpstr>
      <vt:lpstr>TECHNICAL APPROACH</vt:lpstr>
      <vt:lpstr>FEASIBILITY AND VIABILITY</vt:lpstr>
      <vt:lpstr>ARTIFACTS</vt:lpstr>
      <vt:lpstr>RESEARCH  AND REFERENCES</vt:lpstr>
    </vt:vector>
  </TitlesOfParts>
  <Manager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Idea Template</dc:title>
  <dc:subject/>
  <cp:keywords/>
  <dc:description/>
  <cp:lastModifiedBy>Adithya SM</cp:lastModifiedBy>
  <cp:revision>159</cp:revision>
  <dcterms:created xsi:type="dcterms:W3CDTF">2013-12-12T18:46:50Z</dcterms:created>
  <dcterms:modified xsi:type="dcterms:W3CDTF">2026-07-26T09:33:12Z</dcterms:modified>
  <cp:category/>
</cp:coreProperties>
</file>